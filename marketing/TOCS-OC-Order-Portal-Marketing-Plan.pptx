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88952" cy="73152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88952" cy="45720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11480"/>
            <a:ext cx="1005840" cy="502920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29768"/>
            <a:ext cx="9692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D5016"/>
                </a:solidFill>
                <a:latin typeface="Calibri"/>
              </a:rPr>
              <a:t>TOCS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TOCS OC Order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5F0E8"/>
                </a:solidFill>
                <a:latin typeface="Calibri"/>
              </a:rPr>
              <a:t>OC Certificates. Online. On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6E8C8"/>
                </a:solidFill>
                <a:latin typeface="Calibri"/>
              </a:rPr>
              <a:t>Australia's self-service OC certificate ordering platform for conveyancers,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6E8C8"/>
                </a:solidFill>
                <a:latin typeface="Calibri"/>
              </a:rPr>
              <a:t>solicitors, real estate agents and property managers.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4A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3276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0E8"/>
                </a:solidFill>
                <a:latin typeface="Calibri"/>
              </a:rPr>
              <a:t>Marketing Plan 2026  |  TOCS — Top Owners Corporation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The Problem We Solve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1280160"/>
            <a:ext cx="3566160" cy="5029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3258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☎  Phone Calls &amp; Long Waits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783080"/>
            <a:ext cx="3566160" cy="370332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874520"/>
            <a:ext cx="334670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Ordering OC certificates requires phone calls, hold times, and back-and-forth emails with strata managers. Time-critical settlements are put at risk.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1280160"/>
            <a:ext cx="3566160" cy="5029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79976" y="13258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📄  Manual Forms, Fax &amp; Email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8536" y="1783080"/>
            <a:ext cx="3566160" cy="370332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1874520"/>
            <a:ext cx="334670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Paper-based and email workflows are slow, error-prone and hard to track. Staff spend hours chasing confirmations and correcting mistakes.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93024" y="1280160"/>
            <a:ext cx="3566160" cy="5029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13258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🔍  No Visibility on Order Status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3024" y="1783080"/>
            <a:ext cx="3566160" cy="370332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1874520"/>
            <a:ext cx="334670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Once an order is placed, customers are in the dark. There's no status tracking, no estimated delivery, and no automated notifications.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263640"/>
            <a:ext cx="12188952" cy="137160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2C2C2C"/>
                </a:solidFill>
                <a:latin typeface="Calibri"/>
              </a:rPr>
              <a:t>TOCS OC Order Portal  |  Marketing Plan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Introducing the TOCS OC Order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A7A28"/>
                </a:solidFill>
                <a:latin typeface="Calibri"/>
              </a:rPr>
              <a:t>Australia's first fully self-service OC certificate ordering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1691640"/>
            <a:ext cx="2697480" cy="5029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🕐  Order Online 24/7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194560"/>
            <a:ext cx="2697480" cy="31546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2286000"/>
            <a:ext cx="2478024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No phone calls needed. Place orders any time from any device. Confirmation is instant.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691640"/>
            <a:ext cx="2697480" cy="5029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📡  Real-Time Tracking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194560"/>
            <a:ext cx="2697480" cy="31546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286000"/>
            <a:ext cx="2478024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Know your order status at every step. Automated notifications keep you and your client informed.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1691640"/>
            <a:ext cx="2697480" cy="5029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💳  Multiple Payment Options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2194560"/>
            <a:ext cx="2697480" cy="31546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2478024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Card, PayID, Bank Transfer, or Invoice. Flexible billing to suit every firm.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44584" y="1691640"/>
            <a:ext cx="2697480" cy="5029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36024" y="17373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📧  Secure Document Delivery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44584" y="2194560"/>
            <a:ext cx="2697480" cy="315468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2" y="2286000"/>
            <a:ext cx="2478024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Certificates are delivered directly to your inbox as secure PDFs. No chasing, no delays.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263640"/>
            <a:ext cx="12188952" cy="137160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2C2C2C"/>
                </a:solidFill>
                <a:latin typeface="Calibri"/>
              </a:rPr>
              <a:t>TOCS OC Order Portal  |  Marketing Plan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Who Uses the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1234440"/>
            <a:ext cx="5486400" cy="5029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⚖  Conveyancers &amp; Solicitors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737360"/>
            <a:ext cx="5486400" cy="169164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828800"/>
            <a:ext cx="526694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The primary users. They order OC certificates for every property settlement. Speed and accuracy are critical — delays cost money and client trust.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234440"/>
            <a:ext cx="5486400" cy="5029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🏠  Real Estate Agents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737360"/>
            <a:ext cx="5486400" cy="169164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828800"/>
            <a:ext cx="526694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Agents need OC documents for listings and sales. A self-service portal removes their dependency on strata managers and speeds up transactions.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3611880"/>
            <a:ext cx="5486400" cy="5029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3657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👤  Property Owners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114800"/>
            <a:ext cx="5486400" cy="169164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4206240"/>
            <a:ext cx="526694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Owners selling or refinancing need OC certificates. A simple online portal lets them order directly without intermediaries.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3611880"/>
            <a:ext cx="5486400" cy="5029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657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🏢  Building Managers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114800"/>
            <a:ext cx="5486400" cy="169164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4206240"/>
            <a:ext cx="526694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Strata and building managers use the portal for bulk ordering, compliance certificates, and managing requests across multiple properties.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263640"/>
            <a:ext cx="12188952" cy="137160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2C2C2C"/>
                </a:solidFill>
                <a:latin typeface="Calibri"/>
              </a:rPr>
              <a:t>TOCS OC Order Portal  |  Marketing Plan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What You Can Order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188720"/>
          <a:ext cx="103327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286000"/>
                <a:gridCol w="2377440"/>
              </a:tblGrid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Product / Service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Urgent / Express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OC Certificate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$220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$385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Building Register Search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POA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Insurance Certificate of Currency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POA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Meeting Minutes &amp; Financial Statements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POA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Keys / Fobs / Remotes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Per item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Shipping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$15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$25 express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263640"/>
            <a:ext cx="12188952" cy="137160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2C2C2C"/>
                </a:solidFill>
                <a:latin typeface="Calibri"/>
              </a:rPr>
              <a:t>TOCS OC Order Portal  |  Marketing Plan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4A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The Market Opportunity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1325880"/>
            <a:ext cx="5303520" cy="2011680"/>
          </a:xfrm>
          <a:prstGeom prst="rect">
            <a:avLst/>
          </a:prstGeom>
          <a:solidFill>
            <a:srgbClr val="4A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0E8"/>
                </a:solidFill>
                <a:latin typeface="Calibri"/>
              </a:rPr>
              <a:t>320,000+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148840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8C8"/>
                </a:solidFill>
                <a:latin typeface="Calibri"/>
              </a:rPr>
              <a:t>strata schemes in Australia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325880"/>
            <a:ext cx="5303520" cy="2011680"/>
          </a:xfrm>
          <a:prstGeom prst="rect">
            <a:avLst/>
          </a:prstGeom>
          <a:solidFill>
            <a:srgbClr val="4A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0E8"/>
                </a:solidFill>
                <a:latin typeface="Calibri"/>
              </a:rPr>
              <a:t>100,000s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48840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8C8"/>
                </a:solidFill>
                <a:latin typeface="Calibri"/>
              </a:rPr>
              <a:t>property settlements per year require OC documents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3520440"/>
            <a:ext cx="5303520" cy="2011680"/>
          </a:xfrm>
          <a:prstGeom prst="rect">
            <a:avLst/>
          </a:prstGeom>
          <a:solidFill>
            <a:srgbClr val="4A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6576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0E8"/>
                </a:solidFill>
                <a:latin typeface="Calibri"/>
              </a:rPr>
              <a:t>~90%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343400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8C8"/>
                </a:solidFill>
                <a:latin typeface="Calibri"/>
              </a:rPr>
              <a:t>of OC orders still placed manually — phone &amp; email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3520440"/>
            <a:ext cx="5303520" cy="2011680"/>
          </a:xfrm>
          <a:prstGeom prst="rect">
            <a:avLst/>
          </a:prstGeom>
          <a:solidFill>
            <a:srgbClr val="4A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6576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F0E8"/>
                </a:solidFill>
                <a:latin typeface="Calibri"/>
              </a:rPr>
              <a:t>↑ Growing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343400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E8C8"/>
                </a:solidFill>
                <a:latin typeface="Calibri"/>
              </a:rPr>
              <a:t>Fast-growing apartment market driving demand for digital solutions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263640"/>
            <a:ext cx="12188952" cy="137160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5F0E8"/>
                </a:solidFill>
                <a:latin typeface="Calibri"/>
              </a:rPr>
              <a:t>TOCS OC Order Portal  |  Marketing Plan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Launch Campaign: Order Smarter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4A7A28"/>
                </a:solidFill>
                <a:latin typeface="Calibri"/>
              </a:rPr>
              <a:t>Campaign Theme: "OC documents shouldn't slow down your settlement"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1691640"/>
            <a:ext cx="2743200" cy="34747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78308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219456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Weeks 1–4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2542032"/>
            <a:ext cx="2560320" cy="27432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2624328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Soft Launch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3154680"/>
            <a:ext cx="2606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Onboard existing TOCS customers. Gather feedback, refine UX, build case studies.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8416" y="1691640"/>
            <a:ext cx="2743200" cy="3474720"/>
          </a:xfrm>
          <a:prstGeom prst="rect">
            <a:avLst/>
          </a:prstGeom>
          <a:solidFill>
            <a:srgbClr val="4A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8308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19456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Weeks 5–8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19856" y="2542032"/>
            <a:ext cx="2560320" cy="27432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9856" y="2624328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Industry Seeding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9856" y="3154680"/>
            <a:ext cx="2606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Engage AIC, SCA, REIA. Post on LinkedIn. Reach out to conveyancing firms directly.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2784" y="1691640"/>
            <a:ext cx="2743200" cy="3474720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78308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19456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C2C2C"/>
                </a:solidFill>
                <a:latin typeface="Calibri"/>
              </a:rPr>
              <a:t>Weeks 9–16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4224" y="2542032"/>
            <a:ext cx="2560320" cy="2743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2624328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Paid Acquisition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3154680"/>
            <a:ext cx="2606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Launch Google Ads (high-intent keywords). Retargeting campaigns. Drive trial sign-ups.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17152" y="1691640"/>
            <a:ext cx="2743200" cy="347472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08592" y="178308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Phase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8592" y="219456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C2C2C"/>
                </a:solidFill>
                <a:latin typeface="Calibri"/>
              </a:rPr>
              <a:t>Month 5+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08592" y="2542032"/>
            <a:ext cx="2560320" cy="27432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2624328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C2C2C"/>
                </a:solidFill>
                <a:latin typeface="Calibri"/>
              </a:rPr>
              <a:t>Scale &amp; Optimise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3154680"/>
            <a:ext cx="2606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Analyse performance data. Scale top channels. Launch volume pricing and firm partnerships.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263640"/>
            <a:ext cx="12188952" cy="137160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2C2C2C"/>
                </a:solidFill>
                <a:latin typeface="Calibri"/>
              </a:rPr>
              <a:t>TOCS OC Order Portal  |  Marketing Plan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Marketing Channels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1234440"/>
            <a:ext cx="2697480" cy="5029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280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🔍  SEO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737360"/>
            <a:ext cx="2697480" cy="3429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828800"/>
            <a:ext cx="247802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Target high-intent keywords:
"OC certificate order online"
"owners corporation certificate"
"strata certificate VIC"
Blog content for conveyancers &amp; property lawyers.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234440"/>
            <a:ext cx="2697480" cy="5029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280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📢  Google Ads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737360"/>
            <a:ext cx="2697480" cy="3429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7288" y="1828800"/>
            <a:ext cx="247802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Search campaigns targeting settlement-related queries.
Retargeting campaigns for site visitors who didn't convert.
Focus on metro markets: Melbourne, Sydney, Brisbane.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1234440"/>
            <a:ext cx="2697480" cy="5029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280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💼  LinkedIn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91072" y="1737360"/>
            <a:ext cx="2697480" cy="3429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828800"/>
            <a:ext cx="247802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Target conveyancers, property lawyers, strata managers, and real estate principals.
Sponsored content + InMail campaigns.
Thought leadership articles.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44584" y="1234440"/>
            <a:ext cx="2697480" cy="50292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6024" y="1280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🤝  Industry Partnerships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44584" y="1737360"/>
            <a:ext cx="2697480" cy="3429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54312" y="1828800"/>
            <a:ext cx="2478024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Sponsorships &amp; co-marketing with:
- AIC (Australian Institute of Conveyancers)
- SCA (Strata Community Association)
- REIA (Real Estate Institute of Australia)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263640"/>
            <a:ext cx="12188952" cy="137160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2C2C2C"/>
                </a:solidFill>
                <a:latin typeface="Calibri"/>
              </a:rPr>
              <a:t>TOCS OC Order Portal  |  Marketing Plan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Budget &amp; Key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1234440"/>
            <a:ext cx="548640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26187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Annual Marketing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691640"/>
            <a:ext cx="5486400" cy="50292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Google 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7830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C2C2C"/>
                </a:solidFill>
                <a:latin typeface="Calibri"/>
              </a:rPr>
              <a:t>$24,000 / yr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2194560"/>
            <a:ext cx="5486400" cy="5029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2860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LinkedIn 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28600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C2C2C"/>
                </a:solidFill>
                <a:latin typeface="Calibri"/>
              </a:rPr>
              <a:t>$18,000 / yr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2697480"/>
            <a:ext cx="5486400" cy="50292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7889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SEO / Content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889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C2C2C"/>
                </a:solidFill>
                <a:latin typeface="Calibri"/>
              </a:rPr>
              <a:t>$12,000 / yr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200400"/>
            <a:ext cx="5486400" cy="5029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2918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Sponsorships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2918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C2C2C"/>
                </a:solidFill>
                <a:latin typeface="Calibri"/>
              </a:rPr>
              <a:t>$6,000 / yr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703320"/>
            <a:ext cx="5486400" cy="50292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7947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Creative /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7947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C2C2C"/>
                </a:solidFill>
                <a:latin typeface="Calibri"/>
              </a:rPr>
              <a:t>$8,000 / yr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4206240"/>
            <a:ext cx="5486400" cy="5029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2976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  <a:latin typeface="Calibri"/>
              </a:rPr>
              <a:t>Other / Buffer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2976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C2C2C"/>
                </a:solidFill>
                <a:latin typeface="Calibri"/>
              </a:rPr>
              <a:t>$5,400 / yr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4709160"/>
            <a:ext cx="5486400" cy="502920"/>
          </a:xfrm>
          <a:prstGeom prst="rect">
            <a:avLst/>
          </a:prstGeom>
          <a:solidFill>
            <a:srgbClr val="4A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8006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80060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alibri"/>
              </a:rPr>
              <a:t>~$73,400 / yr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234440"/>
            <a:ext cx="5394960" cy="45720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126187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KPI Targets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1691640"/>
            <a:ext cx="5394960" cy="50292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1764792"/>
            <a:ext cx="13716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5016"/>
                </a:solidFill>
                <a:latin typeface="Calibri"/>
              </a:rPr>
              <a:t>10,000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1783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unique visitors/month   (by Month 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194560"/>
            <a:ext cx="5394960" cy="5029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2267712"/>
            <a:ext cx="13716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5016"/>
                </a:solidFill>
                <a:latin typeface="Calibri"/>
              </a:rPr>
              <a:t>250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22860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active conveyancer firms   (12 months)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697480"/>
            <a:ext cx="5394960" cy="50292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770632"/>
            <a:ext cx="13716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5016"/>
                </a:solidFill>
                <a:latin typeface="Calibri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788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of orders placed online   (12 months)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3200400"/>
            <a:ext cx="5394960" cy="5029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273552"/>
            <a:ext cx="13716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5016"/>
                </a:solidFill>
                <a:latin typeface="Calibri"/>
              </a:rPr>
              <a:t>4.5 / 5+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32918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Net Promoter Score target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703320"/>
            <a:ext cx="5394960" cy="502920"/>
          </a:xfrm>
          <a:prstGeom prst="rect">
            <a:avLst/>
          </a:prstGeom>
          <a:solidFill>
            <a:srgbClr val="D6E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3776472"/>
            <a:ext cx="13716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5016"/>
                </a:solidFill>
                <a:latin typeface="Calibri"/>
              </a:rPr>
              <a:t>$320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09560" y="3794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target customer acquisition cost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206240"/>
            <a:ext cx="5394960" cy="50292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4279392"/>
            <a:ext cx="13716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5016"/>
                </a:solidFill>
                <a:latin typeface="Calibri"/>
              </a:rPr>
              <a:t>&lt;48 hrs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09560" y="42976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  <a:latin typeface="Calibri"/>
              </a:rPr>
              <a:t>average order fulfilment time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263640"/>
            <a:ext cx="12188952" cy="137160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2C2C2C"/>
                </a:solidFill>
                <a:latin typeface="Calibri"/>
              </a:rPr>
              <a:t>TOCS OC Order Portal  |  Marketing Plan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D5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12-Month Roadmap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5435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Activity</a:t>
                      </a:r>
                    </a:p>
                  </a:txBody>
                  <a:tcPr>
                    <a:solidFill>
                      <a:srgbClr val="2D5016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5016"/>
                          </a:solidFill>
                          <a:latin typeface="Calibri"/>
                        </a:rPr>
                        <a:t>Month 1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Website live, launch collateral ready, team briefed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5016"/>
                          </a:solidFill>
                          <a:latin typeface="Calibri"/>
                        </a:rPr>
                        <a:t>Month 2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Soft launch — existing TOCS customers onboarded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5016"/>
                          </a:solidFill>
                          <a:latin typeface="Calibri"/>
                        </a:rPr>
                        <a:t>Month 3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Industry outreach begins, LinkedIn campaign live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5016"/>
                          </a:solidFill>
                          <a:latin typeface="Calibri"/>
                        </a:rPr>
                        <a:t>Month 4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Google Ads campaigns launched, first blog articles published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5016"/>
                          </a:solidFill>
                          <a:latin typeface="Calibri"/>
                        </a:rPr>
                        <a:t>Month 5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Email drip campaigns, first conveyancer webinar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5016"/>
                          </a:solidFill>
                          <a:latin typeface="Calibri"/>
                        </a:rPr>
                        <a:t>Month 6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KPI review checkpoint, optimise ad spend, PR outreach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5016"/>
                          </a:solidFill>
                          <a:latin typeface="Calibri"/>
                        </a:rPr>
                        <a:t>Month 9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Volume pricing introduced, firm partnership programme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5016"/>
                          </a:solidFill>
                          <a:latin typeface="Calibri"/>
                        </a:rPr>
                        <a:t>Month 12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C2C2C"/>
                          </a:solidFill>
                          <a:latin typeface="Calibri"/>
                        </a:rPr>
                        <a:t>Annual review, Year 2 strategy &amp; budget sign-off</a:t>
                      </a:r>
                    </a:p>
                  </a:txBody>
                  <a:tcPr>
                    <a:solidFill>
                      <a:srgbClr val="D6E8C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263640"/>
            <a:ext cx="12188952" cy="137160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2C2C2C"/>
                </a:solidFill>
                <a:latin typeface="Calibri"/>
              </a:rPr>
              <a:t>TOCS OC Order Portal  |  Marketing Plan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88952" cy="73152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73152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11480"/>
            <a:ext cx="1005840" cy="502920"/>
          </a:xfrm>
          <a:prstGeom prst="rect">
            <a:avLst/>
          </a:prstGeom>
          <a:solidFill>
            <a:srgbClr val="8FA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29768"/>
            <a:ext cx="9692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D5016"/>
                </a:solidFill>
                <a:latin typeface="Calibri"/>
              </a:rPr>
              <a:t>TOCS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Get Started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F0E8"/>
                </a:solidFill>
                <a:latin typeface="Calibri"/>
              </a:rPr>
              <a:t>Register your firm and get your first 3 orders 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6E8C8"/>
                </a:solidFill>
                <a:latin typeface="Calibri"/>
              </a:rPr>
              <a:t>Experience Australia's fastest, simplest way to order OC certificates.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94760"/>
            <a:ext cx="6858000" cy="1143000"/>
          </a:xfrm>
          <a:prstGeom prst="rect">
            <a:avLst/>
          </a:prstGeom>
          <a:solidFill>
            <a:srgbClr val="4A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840480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F0E8"/>
                </a:solidFill>
                <a:latin typeface="Calibri"/>
              </a:rPr>
              <a:t>Contact &amp; Sign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206240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🌐  portal.tocs.com.au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526280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6E8C8"/>
                </a:solidFill>
                <a:latin typeface="Calibri"/>
              </a:rPr>
              <a:t>📧  hello@tocs.com.au  |  📞  [Your phone number]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4A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3276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F0E8"/>
                </a:solidFill>
                <a:latin typeface="Calibri"/>
              </a:rPr>
              <a:t>Marketing Plan 2026  |  TOCS — Top Owners Corporation Solution  |  portal.tocs.com.au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