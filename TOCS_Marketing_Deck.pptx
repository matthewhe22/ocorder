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40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</a:rPr>
              <a:t>TOP OWNERS CORPORATION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The Smarter Way to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Manage OC Certificates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4E6D9"/>
                </a:solidFill>
              </a:rPr>
              <a:t>A purpose-built digital portal for ordering Owner Corporation certificates, keys, and documentation — faster, simpler, and fully tracked.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7F3EC"/>
                </a:solidFill>
              </a:rPr>
              <a:t>occorder.vercel.app  |  Strata Professionals Edition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255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326"/>
                </a:solidFill>
              </a:rPr>
              <a:t>OC Certificate Ordering is Still Stuck in the Past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40416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44752"/>
            <a:ext cx="64008" cy="13716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19072"/>
            <a:ext cx="384048" cy="384048"/>
          </a:xfrm>
          <a:prstGeom prst="ellipse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" y="1627632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Phone &amp; Email Back-and-Forth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1993392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Strata managers spend hours on calls just to place a certificate order or chase outstanding requests.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1444752"/>
            <a:ext cx="40416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444752"/>
            <a:ext cx="64008" cy="13716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1719072"/>
            <a:ext cx="384048" cy="384048"/>
          </a:xfrm>
          <a:prstGeom prst="ellipse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77256" y="1627632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No Flexible Payment Options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77256" y="1993392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Manual invoicing with bank transfers only — payments get lost, orders stall, and reconciliation is painful.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0416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64008" cy="13716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291840"/>
            <a:ext cx="384048" cy="384048"/>
          </a:xfrm>
          <a:prstGeom prst="ellipse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20040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Poor Document Traceability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" y="3566160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Certificates scatter across inboxes and local folders with no central audit trail or structured archive.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82312" y="3017520"/>
            <a:ext cx="40416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3017520"/>
            <a:ext cx="64008" cy="13716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3291840"/>
            <a:ext cx="384048" cy="384048"/>
          </a:xfrm>
          <a:prstGeom prst="ellipse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77256" y="320040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Zero Visibility for Clients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77256" y="3566160"/>
            <a:ext cx="3218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Clients are left waiting with no way to know whether their order is being processed or when to expect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Meet the TOCS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OC Portal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6D9"/>
                </a:solidFill>
              </a:rPr>
              <a:t>A purpose-built web portal for NSW strata professionals — enabling instant online ordering of Owner Corporation certificates, keys, fobs, and documentation with automated processing and full audit trails.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49240" y="411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for Strata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Professionals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57800" y="1508760"/>
            <a:ext cx="3657600" cy="7132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60020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Payment Methods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2350008"/>
            <a:ext cx="3657600" cy="7132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44144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Digital Process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3191256"/>
            <a:ext cx="3657600" cy="7132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2826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Auto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Email &amp; PDF Generation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4032504"/>
            <a:ext cx="3657600" cy="71323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412394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Live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Order Status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255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326"/>
                </a:solidFill>
              </a:rPr>
              <a:t>Everything a Strata Professional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2651760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384048" cy="384048"/>
          </a:xfrm>
          <a:prstGeom prst="ellipse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Online Ordering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Order OC certificates, registers, insurance, minutes, keys, and fobs from one portal — no phone calls.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5331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53312"/>
            <a:ext cx="2651760" cy="6400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36192"/>
            <a:ext cx="384048" cy="384048"/>
          </a:xfrm>
          <a:prstGeom prst="ellipse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Flexible Payments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01168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Stripe Checkout (live), PayID, and bank transfer — customers pay their preferred way at checkout.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353312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353312"/>
            <a:ext cx="2651760" cy="6400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36192"/>
            <a:ext cx="384048" cy="384048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Auto PDF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48" y="201168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Order summaries and Stripe payment receipts are generated automatically and emailed to all parties.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SharePoint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5844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Every document is auto-filed to SharePoint under Building &gt; Order Type &gt; Order ID — zero manual effort.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26080"/>
            <a:ext cx="265176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10896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Full Admin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5844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Manage orders, strata plans, lots, products, SMTP, Stripe, and branding from a single admin panel.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92608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2926080"/>
            <a:ext cx="2651760" cy="64008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108960"/>
            <a:ext cx="384048" cy="384048"/>
          </a:xfrm>
          <a:prstGeom prst="ellipse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Timestamped Audit Trail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9048" y="358444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88"/>
                </a:solidFill>
              </a:rPr>
              <a:t>Every status change, email sent, and document upload is logged with a timestamped entry per order.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</a:rPr>
              <a:t>PAYMENT OPTIONS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Flexible Payments for Every Customer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572768"/>
            <a:ext cx="1920240" cy="306324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658368" cy="6583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326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Credit Card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via Stripe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6D9"/>
                </a:solidFill>
              </a:rPr>
              <a:t>Instant payment with Stripe Checkout. Live mode, PCI compliant. Order moves to Paid immediately.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4434840"/>
            <a:ext cx="1920240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326"/>
                </a:solidFill>
              </a:rPr>
              <a:t>Immediate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572768"/>
            <a:ext cx="1920240" cy="306324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737360"/>
            <a:ext cx="658368" cy="6583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326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54203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PayID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3337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6D9"/>
                </a:solidFill>
              </a:rPr>
              <a:t>Customers pay to a registered PayID. Admin confirms receipt and marks orders paid from the panel.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4434840"/>
            <a:ext cx="1920240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326"/>
                </a:solidFill>
              </a:rPr>
              <a:t>Popular in AU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1920240" cy="306324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737360"/>
            <a:ext cx="658368" cy="6583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326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254203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Bank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3337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6D9"/>
                </a:solidFill>
              </a:rPr>
              <a:t>BSB/account transfer with a reference number. Configurable banking details shown at checkout.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434840"/>
            <a:ext cx="1920240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326"/>
                </a:solidFill>
              </a:rPr>
              <a:t>Reliable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572768"/>
            <a:ext cx="1920240" cy="306324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1737360"/>
            <a:ext cx="658368" cy="6583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326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12280" y="254203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Invoice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(Keys &amp; Fobs)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3337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6D9"/>
                </a:solidFill>
              </a:rPr>
              <a:t>Keys orders generate a formal invoice sent by email. Admin tracks with a dedicated invoice workflow.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4434840"/>
            <a:ext cx="1920240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326"/>
                </a:solidFill>
              </a:rPr>
              <a:t>Keys-specific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255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3326"/>
                </a:solidFill>
              </a:rPr>
              <a:t>Order an OC Certificate in 4 Simple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72768" y="2542032"/>
            <a:ext cx="6080760" cy="4572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176272"/>
            <a:ext cx="804672" cy="8046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762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852928"/>
            <a:ext cx="193852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52928"/>
            <a:ext cx="1938528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Select Plan &amp; 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Search your strata plan, choose OC certificates or keys, and select quantities.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9232" y="2176272"/>
            <a:ext cx="804672" cy="8046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1762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52928"/>
            <a:ext cx="193852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852928"/>
            <a:ext cx="1938528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Review &amp; Choose Shipping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52044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Review your cart, pick a shipping or pickup option, and confirm your delivery address.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48072" y="2176272"/>
            <a:ext cx="804672" cy="8046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1762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617720" y="2852928"/>
            <a:ext cx="193852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52928"/>
            <a:ext cx="1938528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Enter Contact Details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52044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Provide your name, firm, email, and phone. Details are remembered for next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96912" y="2176272"/>
            <a:ext cx="804672" cy="8046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21762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2852928"/>
            <a:ext cx="1938528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2852928"/>
            <a:ext cx="1938528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326"/>
                </a:solidFill>
              </a:rPr>
              <a:t>Pay &amp; Receive Documents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52044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88"/>
                </a:solidFill>
              </a:rPr>
              <a:t>Pay via Stripe, PayID, or bank transfer. Instant email confirmation with all documents.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Total Control for Strata Managers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481328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81328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Filter, search, update status, export CSV, cancel or delete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322576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22576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95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Add and edit strata plans with shipping options and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163824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3163824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511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Configure OC certs, registers, keys and per-plan pricing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4005072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4005072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Lots &amp; OC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352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Import lot data via Excel; manage owner corporation details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1481328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1481328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SMTP email, Stripe secret key, payment details — all configurable in 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82312" y="2322576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322576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395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Upload logo, customise footer text and portal appearance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82312" y="3163824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82312" y="3163824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5192" y="3511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SharePoint credentials and live 4-step diagnostic test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82312" y="4005072"/>
            <a:ext cx="3977640" cy="6583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82312" y="4005072"/>
            <a:ext cx="64008" cy="6583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4352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6D9"/>
                </a:solidFill>
              </a:rPr>
              <a:t>Change admin username and password securely from within the portal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255"/>
                </a:solidFill>
              </a:rPr>
              <a:t>DOCUMENT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326"/>
                </a:solidFill>
              </a:rPr>
              <a:t>Zero Manual Filing — Ever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502920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44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 Summary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88"/>
                </a:solidFill>
              </a:rPr>
              <a:t>Auto-generated for every order. Includes lot list, contact info, product breakdown, and pricing.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371600"/>
            <a:ext cx="2651760" cy="502920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44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 Receipt 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88"/>
                </a:solidFill>
              </a:rPr>
              <a:t>Stripe orders receive a machine-generated receipt PDF uploaded to SharePoint alongside the order summary.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371600"/>
            <a:ext cx="265176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444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Authority Document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88"/>
                </a:solidFill>
              </a:rPr>
              <a:t>Uploaded by admin and stored in SharePoint. Emailed to customers with one click from the Orders panel.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8503920" cy="960120"/>
          </a:xfrm>
          <a:prstGeom prst="rect">
            <a:avLst/>
          </a:prstGeom>
          <a:solidFill>
            <a:srgbClr val="1C3326"/>
          </a:solidFill>
          <a:ln w="12700">
            <a:solidFill>
              <a:srgbClr val="1C33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SharePoint Auto-Filing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25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6D9"/>
                </a:solidFill>
              </a:rPr>
              <a:t>All documents are automatically filed to SharePoint under: Building Name &gt; Order Type &gt; Order ID. Configurable credentials, tested live from the admin panel.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</a:rPr>
              <a:t>WHY TOCS?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Reasons Strata Professionals Choose TOCS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651760" cy="34015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27632"/>
            <a:ext cx="896112" cy="8961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2763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79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NSW Strata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OC-specific product types (per-OC &amp; flat-fee)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Multiple owner corps per strata 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Excel bulk import for lots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41655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Keys &amp; fob ordering with invoice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34015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627632"/>
            <a:ext cx="896112" cy="8961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62763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II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679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Production-Grade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Reliability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40156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Parallel email + SharePoint on order submit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Stripe Live mode with full PCI 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40782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Full timestamped audit log per order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41655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Resilient under Vercel Hobby tier limits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463040"/>
            <a:ext cx="2651760" cy="3401568"/>
          </a:xfrm>
          <a:prstGeom prst="rect">
            <a:avLst/>
          </a:prstGeom>
          <a:solidFill>
            <a:srgbClr val="4A7255"/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627632"/>
            <a:ext cx="896112" cy="8961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62763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326"/>
                </a:solidFill>
              </a:rPr>
              <a:t>III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0" y="2679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Maintenance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40156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All config stored in Redis — no redeploy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SMTP, Stripe &amp; SharePoint tested in-portal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40782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Admin credentials changeable via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41655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E6D9"/>
                </a:solidFill>
              </a:rPr>
              <a:t>Live 4-step diagnostic for all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94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</a:rPr>
              <a:t>READY TO GET STARTED?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Transform Your OC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Certificate Workflow Today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299923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E6D9"/>
                </a:solidFill>
              </a:rPr>
              <a:t>Join strata professionals already using the TOCS portal to save time, eliminate errors, and deliver a better client experience.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3858768"/>
            <a:ext cx="2788920" cy="7132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385876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326"/>
                </a:solidFill>
              </a:rPr>
              <a:t>Visit the Portal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93008" y="3858768"/>
            <a:ext cx="2788920" cy="7132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72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85876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Contact 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88"/>
                </a:solidFill>
              </a:rPr>
              <a:t>occorder.vercel.app  |  tocs.co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Owners Corporation Solution — Marketing Deck</dc:title>
  <dc:subject>PptxGenJS Presentation</dc:subject>
  <dc:creator>PptxGenJS</dc:creator>
  <cp:lastModifiedBy>PptxGenJS</cp:lastModifiedBy>
  <cp:revision>1</cp:revision>
  <dcterms:created xsi:type="dcterms:W3CDTF">2026-04-03T00:02:06Z</dcterms:created>
  <dcterms:modified xsi:type="dcterms:W3CDTF">2026-04-03T00:02:06Z</dcterms:modified>
</cp:coreProperties>
</file>